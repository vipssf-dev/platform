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A8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>
              <a:alpha val="7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0"/>
            <a:ext cx="11430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300" dirty="0">
                <a:solidFill>
                  <a:srgbClr val="93C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🏫  مدرسة الرياض الابتدائية — العام الدراسي 1447هـ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112471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منصة الرياض الإلكترونية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914400" y="2743200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800" dirty="0">
                <a:solidFill>
                  <a:srgbClr val="93C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بوابة موحدة لجميع الأنظمة الإدارية والتعليمية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029200" y="3291840"/>
            <a:ext cx="2103120" cy="45720"/>
          </a:xfrm>
          <a:prstGeom prst="rect">
            <a:avLst/>
          </a:prstGeom>
          <a:solidFill>
            <a:srgbClr val="60A5FA"/>
          </a:solidFill>
          <a:ln/>
        </p:spPr>
      </p:sp>
      <p:sp>
        <p:nvSpPr>
          <p:cNvPr id="7" name="Shape 5"/>
          <p:cNvSpPr/>
          <p:nvPr/>
        </p:nvSpPr>
        <p:spPr>
          <a:xfrm>
            <a:off x="914400" y="3840480"/>
            <a:ext cx="3108960" cy="1371600"/>
          </a:xfrm>
          <a:prstGeom prst="roundRect">
            <a:avLst>
              <a:gd name="adj" fmla="val 10000"/>
            </a:avLst>
          </a:prstGeom>
          <a:solidFill>
            <a:srgbClr val="000000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3977640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914400" y="470916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تطبيق إلكتروني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0" y="3840480"/>
            <a:ext cx="3108960" cy="1371600"/>
          </a:xfrm>
          <a:prstGeom prst="roundRect">
            <a:avLst>
              <a:gd name="adj" fmla="val 10000"/>
            </a:avLst>
          </a:prstGeom>
          <a:solidFill>
            <a:srgbClr val="000000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0" y="3977640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4572000" y="470916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أقسام رئيسية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229600" y="3840480"/>
            <a:ext cx="3108960" cy="1371600"/>
          </a:xfrm>
          <a:prstGeom prst="roundRect">
            <a:avLst>
              <a:gd name="adj" fmla="val 10000"/>
            </a:avLst>
          </a:prstGeom>
          <a:solidFill>
            <a:srgbClr val="000000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0" y="3977640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C4B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∞</a:t>
            </a:r>
            <a:endParaRPr lang="en-US" sz="4000" dirty="0"/>
          </a:p>
        </p:txBody>
      </p:sp>
      <p:sp>
        <p:nvSpPr>
          <p:cNvPr id="15" name="Text 13"/>
          <p:cNvSpPr/>
          <p:nvPr/>
        </p:nvSpPr>
        <p:spPr>
          <a:xfrm>
            <a:off x="8229600" y="470916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وصول 24/7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828800" y="5669280"/>
            <a:ext cx="2286000" cy="365760"/>
          </a:xfrm>
          <a:prstGeom prst="roundRect">
            <a:avLst>
              <a:gd name="adj" fmla="val 50000"/>
            </a:avLst>
          </a:prstGeom>
          <a:solidFill>
            <a:srgbClr val="064E3B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828800" y="5705856"/>
            <a:ext cx="22860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 متصل بالإنترنت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663440" y="5669280"/>
            <a:ext cx="2286000" cy="365760"/>
          </a:xfrm>
          <a:prstGeom prst="roundRect">
            <a:avLst>
              <a:gd name="adj" fmla="val 50000"/>
            </a:avLst>
          </a:prstGeom>
          <a:solidFill>
            <a:srgbClr val="1E3A8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63440" y="5705856"/>
            <a:ext cx="22860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🔒  آمن ومحمي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498080" y="5669280"/>
            <a:ext cx="2286000" cy="365760"/>
          </a:xfrm>
          <a:prstGeom prst="roundRect">
            <a:avLst>
              <a:gd name="adj" fmla="val 50000"/>
            </a:avLst>
          </a:prstGeom>
          <a:solidFill>
            <a:srgbClr val="2E1065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498080" y="5705856"/>
            <a:ext cx="22860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  بيانات فورية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0" y="6583680"/>
            <a:ext cx="121889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منصة الرياض الإلكترونية — riyadhplatform.tech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11430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نظرة عامة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365760" y="594360"/>
            <a:ext cx="11430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هيكل منصة الرياض الإلكترونية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914400" y="1554480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منصة موحدة تجمع جميع الأنظمة تحت سقف رقمي واحد مع لوحة مؤشرات مباشرة لمتابعة الإنجاز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754880" y="2194560"/>
            <a:ext cx="2651760" cy="914400"/>
          </a:xfrm>
          <a:prstGeom prst="roundRect">
            <a:avLst>
              <a:gd name="adj" fmla="val 15000"/>
            </a:avLst>
          </a:prstGeom>
          <a:solidFill>
            <a:srgbClr val="1E40AF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754880" y="2240280"/>
            <a:ext cx="2651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🌐  لوحة المؤشرات</a:t>
            </a:r>
            <a:endParaRPr lang="en-US" sz="1300" dirty="0"/>
          </a:p>
          <a:p>
            <a:pPr rtl="1"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الرئيسية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3474720"/>
            <a:ext cx="2834640" cy="1371600"/>
          </a:xfrm>
          <a:prstGeom prst="roundRect">
            <a:avLst>
              <a:gd name="adj" fmla="val 10000"/>
            </a:avLst>
          </a:prstGeom>
          <a:solidFill>
            <a:srgbClr val="064E3B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3566160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🏫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457200" y="406908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الشؤون المدرسية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448056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تطبيقات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54880" y="3474720"/>
            <a:ext cx="2834640" cy="1371600"/>
          </a:xfrm>
          <a:prstGeom prst="roundRect">
            <a:avLst>
              <a:gd name="adj" fmla="val 10000"/>
            </a:avLst>
          </a:prstGeom>
          <a:solidFill>
            <a:srgbClr val="2E1065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0" y="3566160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📚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4846320" y="406908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الشؤون التعليمية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846320" y="448056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تطبيقاً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9052560" y="3474720"/>
            <a:ext cx="2834640" cy="1371600"/>
          </a:xfrm>
          <a:prstGeom prst="roundRect">
            <a:avLst>
              <a:gd name="adj" fmla="val 10000"/>
            </a:avLst>
          </a:prstGeom>
          <a:solidFill>
            <a:srgbClr val="78350F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052560" y="3566160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🎓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9144000" y="406908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شؤون الطلاب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9144000" y="448056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تطبيقات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1783080" y="3108960"/>
            <a:ext cx="0" cy="365760"/>
          </a:xfrm>
          <a:prstGeom prst="line">
            <a:avLst/>
          </a:prstGeom>
          <a:noFill/>
          <a:ln w="19050">
            <a:solidFill>
              <a:srgbClr val="34D399"/>
            </a:solidFill>
            <a:prstDash val="dash"/>
          </a:ln>
        </p:spPr>
      </p:sp>
      <p:sp>
        <p:nvSpPr>
          <p:cNvPr id="20" name="Shape 18"/>
          <p:cNvSpPr/>
          <p:nvPr/>
        </p:nvSpPr>
        <p:spPr>
          <a:xfrm>
            <a:off x="6080760" y="3108960"/>
            <a:ext cx="0" cy="365760"/>
          </a:xfrm>
          <a:prstGeom prst="line">
            <a:avLst/>
          </a:prstGeom>
          <a:noFill/>
          <a:ln w="19050">
            <a:solidFill>
              <a:srgbClr val="C4B5FD"/>
            </a:solidFill>
            <a:prstDash val="dash"/>
          </a:ln>
        </p:spPr>
      </p:sp>
      <p:sp>
        <p:nvSpPr>
          <p:cNvPr id="21" name="Shape 19"/>
          <p:cNvSpPr/>
          <p:nvPr/>
        </p:nvSpPr>
        <p:spPr>
          <a:xfrm>
            <a:off x="10469880" y="3108960"/>
            <a:ext cx="0" cy="365760"/>
          </a:xfrm>
          <a:prstGeom prst="line">
            <a:avLst/>
          </a:prstGeom>
          <a:noFill/>
          <a:ln w="19050">
            <a:solidFill>
              <a:srgbClr val="FCD34D"/>
            </a:solidFill>
            <a:prstDash val="dash"/>
          </a:ln>
        </p:spPr>
      </p:sp>
      <p:sp>
        <p:nvSpPr>
          <p:cNvPr id="22" name="Shape 20"/>
          <p:cNvSpPr/>
          <p:nvPr/>
        </p:nvSpPr>
        <p:spPr>
          <a:xfrm>
            <a:off x="365760" y="5120640"/>
            <a:ext cx="11430000" cy="594360"/>
          </a:xfrm>
          <a:prstGeom prst="roundRect">
            <a:avLst>
              <a:gd name="adj" fmla="val 15385"/>
            </a:avLst>
          </a:prstGeom>
          <a:solidFill>
            <a:srgbClr val="000000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5193792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200" dirty="0">
                <a:solidFill>
                  <a:srgbClr val="93C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🔗  جميع التطبيقات مترابطة عبر نطاق  riyadhplatform.tech  وتُعرض في لوحة مؤشرات مباشرة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64E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11430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30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القسم الأول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365760" y="594360"/>
            <a:ext cx="11430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36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الشؤون المدرسية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914400" y="1463040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تغطي الجانب الإداري والمالي والبنية التحتية للمدرسة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2194560"/>
            <a:ext cx="3291840" cy="2560320"/>
          </a:xfrm>
          <a:prstGeom prst="roundRect">
            <a:avLst>
              <a:gd name="adj" fmla="val 5357"/>
            </a:avLst>
          </a:prstGeom>
          <a:solidFill>
            <a:srgbClr val="0D3B2E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233172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💰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822960" y="2999232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النظام المالي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352044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10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إدارة الإيرادات والمصروفات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22960" y="3913632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financial.riyadhplatform.tech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480560" y="2194560"/>
            <a:ext cx="3291840" cy="2560320"/>
          </a:xfrm>
          <a:prstGeom prst="roundRect">
            <a:avLst>
              <a:gd name="adj" fmla="val 5357"/>
            </a:avLst>
          </a:prstGeom>
          <a:solidFill>
            <a:srgbClr val="0D3B2E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480560" y="233172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📋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4572000" y="2999232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متابعة المهام الإدارية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572000" y="352044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10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تتبع مهام المساعدين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0" y="3913632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tasks.riyadhplatform.tech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229600" y="2194560"/>
            <a:ext cx="3291840" cy="2560320"/>
          </a:xfrm>
          <a:prstGeom prst="roundRect">
            <a:avLst>
              <a:gd name="adj" fmla="val 5357"/>
            </a:avLst>
          </a:prstGeom>
          <a:solidFill>
            <a:srgbClr val="0D3B2E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29600" y="233172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🏗️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8321040" y="2999232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المبنى المدرسي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321040" y="352044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10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متابعة الصيانة والمرافق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321040" y="3913632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maintenance.riyadhplatform.tech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1371600" y="5074920"/>
            <a:ext cx="2286000" cy="365760"/>
          </a:xfrm>
          <a:prstGeom prst="roundRect">
            <a:avLst>
              <a:gd name="adj" fmla="val 50000"/>
            </a:avLst>
          </a:prstGeom>
          <a:solidFill>
            <a:srgbClr val="064E3B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371600" y="5111496"/>
            <a:ext cx="22860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 رصيد مالي فوري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937760" y="5074920"/>
            <a:ext cx="2286000" cy="365760"/>
          </a:xfrm>
          <a:prstGeom prst="roundRect">
            <a:avLst>
              <a:gd name="adj" fmla="val 50000"/>
            </a:avLst>
          </a:prstGeom>
          <a:solidFill>
            <a:srgbClr val="064E3B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37760" y="5111496"/>
            <a:ext cx="22860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 متابعة 63+ مهمة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8503920" y="5074920"/>
            <a:ext cx="2286000" cy="365760"/>
          </a:xfrm>
          <a:prstGeom prst="roundRect">
            <a:avLst>
              <a:gd name="adj" fmla="val 50000"/>
            </a:avLst>
          </a:prstGeom>
          <a:solidFill>
            <a:srgbClr val="064E3B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503920" y="5111496"/>
            <a:ext cx="22860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 جدولة الصيانة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2E106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11430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300" dirty="0">
                <a:solidFill>
                  <a:srgbClr val="C4B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القسم الثاني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365760" y="594360"/>
            <a:ext cx="11430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3600" b="1" dirty="0">
                <a:solidFill>
                  <a:srgbClr val="C4B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الشؤون التعليمية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914400" y="1463040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تطبيقاً تُغطي دورة الاختبارات والأعمال الفنية والتطوير المهني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79476" y="2103120"/>
            <a:ext cx="2651760" cy="1280160"/>
          </a:xfrm>
          <a:prstGeom prst="roundRect">
            <a:avLst>
              <a:gd name="adj" fmla="val 8571"/>
            </a:avLst>
          </a:prstGeom>
          <a:solidFill>
            <a:srgbClr val="1A0A40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79476" y="219456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📝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70916" y="269748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تسليم الأسئلة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305556" y="2103120"/>
            <a:ext cx="2651760" cy="1280160"/>
          </a:xfrm>
          <a:prstGeom prst="roundRect">
            <a:avLst>
              <a:gd name="adj" fmla="val 8571"/>
            </a:avLst>
          </a:prstGeom>
          <a:solidFill>
            <a:srgbClr val="1A0A40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305556" y="219456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🔍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3396996" y="269748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متابعة الاختبارات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231636" y="2103120"/>
            <a:ext cx="2651760" cy="1280160"/>
          </a:xfrm>
          <a:prstGeom prst="roundRect">
            <a:avLst>
              <a:gd name="adj" fmla="val 8571"/>
            </a:avLst>
          </a:prstGeom>
          <a:solidFill>
            <a:srgbClr val="1A0A40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31636" y="219456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6323076" y="269748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تحليل النتائج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9157716" y="2103120"/>
            <a:ext cx="2651760" cy="1280160"/>
          </a:xfrm>
          <a:prstGeom prst="roundRect">
            <a:avLst>
              <a:gd name="adj" fmla="val 8571"/>
            </a:avLst>
          </a:prstGeom>
          <a:solidFill>
            <a:srgbClr val="1A0A40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57716" y="219456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🗓️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9249156" y="269748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الجداول المدرسية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79476" y="3611880"/>
            <a:ext cx="2651760" cy="1280160"/>
          </a:xfrm>
          <a:prstGeom prst="roundRect">
            <a:avLst>
              <a:gd name="adj" fmla="val 8571"/>
            </a:avLst>
          </a:prstGeom>
          <a:solidFill>
            <a:srgbClr val="1A0A40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79476" y="370332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📁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470916" y="42062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ملفات الإنجاز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305556" y="3611880"/>
            <a:ext cx="2651760" cy="1280160"/>
          </a:xfrm>
          <a:prstGeom prst="roundRect">
            <a:avLst>
              <a:gd name="adj" fmla="val 8571"/>
            </a:avLst>
          </a:prstGeom>
          <a:solidFill>
            <a:srgbClr val="1A0A40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305556" y="370332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📒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3396996" y="42062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سجلات المتابعة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231636" y="3611880"/>
            <a:ext cx="2651760" cy="1280160"/>
          </a:xfrm>
          <a:prstGeom prst="roundRect">
            <a:avLst>
              <a:gd name="adj" fmla="val 8571"/>
            </a:avLst>
          </a:prstGeom>
          <a:solidFill>
            <a:srgbClr val="1A0A40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231636" y="370332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✍️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6323076" y="42062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الأعمال التحريرية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9157716" y="3611880"/>
            <a:ext cx="2651760" cy="1280160"/>
          </a:xfrm>
          <a:prstGeom prst="roundRect">
            <a:avLst>
              <a:gd name="adj" fmla="val 8571"/>
            </a:avLst>
          </a:prstGeom>
          <a:solidFill>
            <a:srgbClr val="1A0A40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157716" y="370332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🔬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9249156" y="42062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الزيارات الفنية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79476" y="5120640"/>
            <a:ext cx="2651760" cy="1280160"/>
          </a:xfrm>
          <a:prstGeom prst="roundRect">
            <a:avLst>
              <a:gd name="adj" fmla="val 8571"/>
            </a:avLst>
          </a:prstGeom>
          <a:solidFill>
            <a:srgbClr val="1A0A40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79476" y="521208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🏆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470916" y="571500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الرخصة المهنية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3305556" y="5120640"/>
            <a:ext cx="2651760" cy="1280160"/>
          </a:xfrm>
          <a:prstGeom prst="roundRect">
            <a:avLst>
              <a:gd name="adj" fmla="val 8571"/>
            </a:avLst>
          </a:prstGeom>
          <a:solidFill>
            <a:srgbClr val="1A0A40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305556" y="521208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💪</a:t>
            </a:r>
            <a:endParaRPr lang="en-US" sz="2200" dirty="0"/>
          </a:p>
        </p:txBody>
      </p:sp>
      <p:sp>
        <p:nvSpPr>
          <p:cNvPr id="34" name="Text 32"/>
          <p:cNvSpPr/>
          <p:nvPr/>
        </p:nvSpPr>
        <p:spPr>
          <a:xfrm>
            <a:off x="3396996" y="571500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تدريبات نافس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231636" y="5120640"/>
            <a:ext cx="2651760" cy="1280160"/>
          </a:xfrm>
          <a:prstGeom prst="roundRect">
            <a:avLst>
              <a:gd name="adj" fmla="val 8571"/>
            </a:avLst>
          </a:prstGeom>
          <a:solidFill>
            <a:srgbClr val="1A0A40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231636" y="521208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💎</a:t>
            </a:r>
            <a:endParaRPr lang="en-US" sz="2200" dirty="0"/>
          </a:p>
        </p:txBody>
      </p:sp>
      <p:sp>
        <p:nvSpPr>
          <p:cNvPr id="37" name="Text 35"/>
          <p:cNvSpPr/>
          <p:nvPr/>
        </p:nvSpPr>
        <p:spPr>
          <a:xfrm>
            <a:off x="6323076" y="571500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رياض بيرلز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7835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11430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300" dirty="0">
                <a:solidFill>
                  <a:srgbClr val="FCD3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القسم الثالث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365760" y="594360"/>
            <a:ext cx="11430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3600" b="1" dirty="0">
                <a:solidFill>
                  <a:srgbClr val="FCD3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شؤون الطلاب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914400" y="1463040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تطبيقات تشمل جميع جوانب رعاية الطالب داخل المدرسة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62356" y="2011680"/>
            <a:ext cx="3383280" cy="1645920"/>
          </a:xfrm>
          <a:prstGeom prst="roundRect">
            <a:avLst>
              <a:gd name="adj" fmla="val 8333"/>
            </a:avLst>
          </a:prstGeom>
          <a:solidFill>
            <a:srgbClr val="4A1A00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2356" y="2148840"/>
            <a:ext cx="3383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🏅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653796" y="278892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النشاط الطلابي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53796" y="3310128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871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activities.riyadhplatform.tech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4402836" y="2011680"/>
            <a:ext cx="3383280" cy="1645920"/>
          </a:xfrm>
          <a:prstGeom prst="roundRect">
            <a:avLst>
              <a:gd name="adj" fmla="val 8333"/>
            </a:avLst>
          </a:prstGeom>
          <a:solidFill>
            <a:srgbClr val="4A1A00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402836" y="2148840"/>
            <a:ext cx="3383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🤝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4494276" y="278892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التوجيه الطلابي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494276" y="3310128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871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counselor.riyadhplatform.tech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8243316" y="2011680"/>
            <a:ext cx="3383280" cy="1645920"/>
          </a:xfrm>
          <a:prstGeom prst="roundRect">
            <a:avLst>
              <a:gd name="adj" fmla="val 8333"/>
            </a:avLst>
          </a:prstGeom>
          <a:solidFill>
            <a:srgbClr val="4A1A00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43316" y="2148840"/>
            <a:ext cx="3383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🏥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8334756" y="278892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الإشراف الصحي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334756" y="3310128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871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health.riyadhplatform.tech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562356" y="3931920"/>
            <a:ext cx="3383280" cy="1645920"/>
          </a:xfrm>
          <a:prstGeom prst="roundRect">
            <a:avLst>
              <a:gd name="adj" fmla="val 8333"/>
            </a:avLst>
          </a:prstGeom>
          <a:solidFill>
            <a:srgbClr val="4A1A00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62356" y="4069080"/>
            <a:ext cx="3383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🚌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653796" y="470916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مخالفات الحافلات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53796" y="5230368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871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bus.riyadhplatform.tech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4402836" y="3931920"/>
            <a:ext cx="3383280" cy="1645920"/>
          </a:xfrm>
          <a:prstGeom prst="roundRect">
            <a:avLst>
              <a:gd name="adj" fmla="val 8333"/>
            </a:avLst>
          </a:prstGeom>
          <a:solidFill>
            <a:srgbClr val="4A1A00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402836" y="4069080"/>
            <a:ext cx="3383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🧠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4494276" y="470916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صعوبات التعلم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494276" y="5230368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871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special-edu.riyadhplatform.tech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8243316" y="3931920"/>
            <a:ext cx="3383280" cy="1645920"/>
          </a:xfrm>
          <a:prstGeom prst="roundRect">
            <a:avLst>
              <a:gd name="adj" fmla="val 8333"/>
            </a:avLst>
          </a:prstGeom>
          <a:solidFill>
            <a:srgbClr val="4A1A00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43316" y="4069080"/>
            <a:ext cx="3383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📚</a:t>
            </a:r>
            <a:endParaRPr lang="en-US" sz="2800" dirty="0"/>
          </a:p>
        </p:txBody>
      </p:sp>
      <p:sp>
        <p:nvSpPr>
          <p:cNvPr id="27" name="Text 25"/>
          <p:cNvSpPr/>
          <p:nvPr/>
        </p:nvSpPr>
        <p:spPr>
          <a:xfrm>
            <a:off x="8334756" y="470916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مركز مصادر التعلم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8334756" y="5230368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871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learning.riyadhplatform.tech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E749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11430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300" dirty="0">
                <a:solidFill>
                  <a:srgbClr val="67E8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كفاءة الإنفاق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365760" y="594360"/>
            <a:ext cx="11430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⏱️  توفير الوقت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914400" y="1463040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تحويل العمليات الورقية التقليدية إلى رقمية يُقلّص وقت الإنجاز بصورة جوهرية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2011680"/>
            <a:ext cx="4937760" cy="2651760"/>
          </a:xfrm>
          <a:prstGeom prst="roundRect">
            <a:avLst>
              <a:gd name="adj" fmla="val 5172"/>
            </a:avLst>
          </a:prstGeom>
          <a:solidFill>
            <a:srgbClr val="3B0A0A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2103120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500" b="1" dirty="0">
                <a:solidFill>
                  <a:srgbClr val="F871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 قبل المنصة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2606040"/>
            <a:ext cx="4754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 طباعة وتوزيع الأسئلة يدوياً (ساعات)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2999232"/>
            <a:ext cx="4754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 تسجيل المهام في سجلات ورقية يومياً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3392424"/>
            <a:ext cx="4754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 إعداد التقارير المالية يدوياً كل شهر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3785616"/>
            <a:ext cx="4754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 متابعة المخالفات ورقياً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4178808"/>
            <a:ext cx="4754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 انتظار الموافقات عبر البريد الداخلي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394960" y="3017520"/>
            <a:ext cx="1371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</a:t>
            </a:r>
            <a:endParaRPr lang="en-US" sz="4000" dirty="0"/>
          </a:p>
        </p:txBody>
      </p:sp>
      <p:sp>
        <p:nvSpPr>
          <p:cNvPr id="13" name="Shape 11"/>
          <p:cNvSpPr/>
          <p:nvPr/>
        </p:nvSpPr>
        <p:spPr>
          <a:xfrm>
            <a:off x="6858000" y="2011680"/>
            <a:ext cx="4937760" cy="2651760"/>
          </a:xfrm>
          <a:prstGeom prst="roundRect">
            <a:avLst>
              <a:gd name="adj" fmla="val 5172"/>
            </a:avLst>
          </a:prstGeom>
          <a:solidFill>
            <a:srgbClr val="0A2E1A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949440" y="2103120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5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 مع المنصة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949440" y="2606040"/>
            <a:ext cx="4754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تسليم الأسئلة إلكترونياً في دقائق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949440" y="2999232"/>
            <a:ext cx="4754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تحديث المهام لحظياً من أي جهاز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949440" y="3392424"/>
            <a:ext cx="4754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تقارير مالية تلقائية فورية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949440" y="3785616"/>
            <a:ext cx="4754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رصد المخالفات وتحليلها آنياً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949440" y="4178808"/>
            <a:ext cx="4754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موافقة ومتابعة رقمية فورية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22960" y="4892040"/>
            <a:ext cx="3200400" cy="914400"/>
          </a:xfrm>
          <a:prstGeom prst="roundRect">
            <a:avLst>
              <a:gd name="adj" fmla="val 1200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2960" y="493776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67E8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75%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822960" y="539496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تقليص وقت إعداد التقارير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389120" y="4892040"/>
            <a:ext cx="3200400" cy="914400"/>
          </a:xfrm>
          <a:prstGeom prst="roundRect">
            <a:avLst>
              <a:gd name="adj" fmla="val 1200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389120" y="493776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67E8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90%</a:t>
            </a:r>
            <a:endParaRPr lang="en-US" sz="2800" dirty="0"/>
          </a:p>
        </p:txBody>
      </p:sp>
      <p:sp>
        <p:nvSpPr>
          <p:cNvPr id="25" name="Text 23"/>
          <p:cNvSpPr/>
          <p:nvPr/>
        </p:nvSpPr>
        <p:spPr>
          <a:xfrm>
            <a:off x="4389120" y="539496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تسريع تسليم الأسئلة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7955280" y="4892040"/>
            <a:ext cx="3200400" cy="914400"/>
          </a:xfrm>
          <a:prstGeom prst="roundRect">
            <a:avLst>
              <a:gd name="adj" fmla="val 1200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955280" y="493776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67E8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24/7</a:t>
            </a:r>
            <a:endParaRPr lang="en-US" sz="2800" dirty="0"/>
          </a:p>
        </p:txBody>
      </p:sp>
      <p:sp>
        <p:nvSpPr>
          <p:cNvPr id="28" name="Text 26"/>
          <p:cNvSpPr/>
          <p:nvPr/>
        </p:nvSpPr>
        <p:spPr>
          <a:xfrm>
            <a:off x="7955280" y="539496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وصول مستمر بلا توقف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11430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كفاءة الإنفاق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365760" y="594360"/>
            <a:ext cx="11430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💪  توفير الجهد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914400" y="1463040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الاستغناء عن الأعمال الورقية المكررة وتوحيد البيانات في مكان واحد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2011680"/>
            <a:ext cx="5394960" cy="1097280"/>
          </a:xfrm>
          <a:prstGeom prst="roundRect">
            <a:avLst>
              <a:gd name="adj" fmla="val 1000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21945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280160" y="2103120"/>
            <a:ext cx="4297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لوحة مؤشرات مركزية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280160" y="2514600"/>
            <a:ext cx="4297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عرض إحصاءات الأنظمة الـ21 في شاشة واحدة بدلاً من مراجعة كل نظام على حدة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217920" y="2011680"/>
            <a:ext cx="5394960" cy="1097280"/>
          </a:xfrm>
          <a:prstGeom prst="roundRect">
            <a:avLst>
              <a:gd name="adj" fmla="val 1000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355080" y="21945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🔍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7132320" y="2103120"/>
            <a:ext cx="4297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البحث الموحد الفوري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132320" y="2514600"/>
            <a:ext cx="4297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إيجاد أي تطبيق فورياً عبر شريط البحث بدلاً من التنقل بين عدة مواقع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65760" y="3337560"/>
            <a:ext cx="5394960" cy="1097280"/>
          </a:xfrm>
          <a:prstGeom prst="roundRect">
            <a:avLst>
              <a:gd name="adj" fmla="val 1000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352044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📱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1280160" y="3429000"/>
            <a:ext cx="4297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وصول من أي جهاز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280160" y="3840480"/>
            <a:ext cx="4297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العمل من الجوال أو الحاسب أو اللوح في أي وقت دون الحاجة للتواجد في المدرسة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217920" y="3337560"/>
            <a:ext cx="5394960" cy="1097280"/>
          </a:xfrm>
          <a:prstGeom prst="roundRect">
            <a:avLst>
              <a:gd name="adj" fmla="val 1000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55080" y="352044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🔄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7132320" y="3429000"/>
            <a:ext cx="4297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تحديث البيانات تلقائياً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132320" y="3840480"/>
            <a:ext cx="4297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البيانات تتحدث كل دقيقة دون تدخل بشري مما يُلغي الجهد اليدوي المتكرر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65760" y="4663440"/>
            <a:ext cx="5394960" cy="1097280"/>
          </a:xfrm>
          <a:prstGeom prst="roundRect">
            <a:avLst>
              <a:gd name="adj" fmla="val 1000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48463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📋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1280160" y="4754880"/>
            <a:ext cx="4297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إلغاء ازدواجية العمل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280160" y="5166360"/>
            <a:ext cx="4297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بيانات الطلاب والمعلمين تُدار مرة واحدة وتظهر في جميع الأنظمة المترابطة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217920" y="4663440"/>
            <a:ext cx="5394960" cy="1097280"/>
          </a:xfrm>
          <a:prstGeom prst="roundRect">
            <a:avLst>
              <a:gd name="adj" fmla="val 1000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355080" y="48463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7132320" y="4754880"/>
            <a:ext cx="4297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اتخاذ قرار أسرع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7132320" y="5166360"/>
            <a:ext cx="4297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المسؤول يرى نسبة الإنجاز والحالة الفورية لكل نظام دون انتظار التقارير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7F1D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11430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300" dirty="0">
                <a:solidFill>
                  <a:srgbClr val="F871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كفاءة الإنفاق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365760" y="594360"/>
            <a:ext cx="11430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💰  توفير المال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914400" y="1463040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الرقمنة الشاملة تُخفّض التكاليف التشغيلية بشكل مباشر وغير مباشر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2103120"/>
            <a:ext cx="3474720" cy="2560320"/>
          </a:xfrm>
          <a:prstGeom prst="roundRect">
            <a:avLst>
              <a:gd name="adj" fmla="val 5357"/>
            </a:avLst>
          </a:prstGeom>
          <a:solidFill>
            <a:srgbClr val="3B0A0A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2240280"/>
            <a:ext cx="3474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🖨️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457200" y="2880360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871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-80%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548640" y="3547872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تكاليف الطباعة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3931920"/>
            <a:ext cx="3291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الأسئلة والتقارير والنماذج أصبحت رقمية بالكامل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343400" y="2103120"/>
            <a:ext cx="3474720" cy="2560320"/>
          </a:xfrm>
          <a:prstGeom prst="roundRect">
            <a:avLst>
              <a:gd name="adj" fmla="val 5357"/>
            </a:avLst>
          </a:prstGeom>
          <a:solidFill>
            <a:srgbClr val="3B0A0A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343400" y="2240280"/>
            <a:ext cx="3474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📦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4343400" y="2880360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871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-70%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4434840" y="3547872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تكاليف الأرشفة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434840" y="3931920"/>
            <a:ext cx="3291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لا حاجة لملفات ورقية أو خزائن للتخزين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229600" y="2103120"/>
            <a:ext cx="3474720" cy="2560320"/>
          </a:xfrm>
          <a:prstGeom prst="roundRect">
            <a:avLst>
              <a:gd name="adj" fmla="val 5357"/>
            </a:avLst>
          </a:prstGeom>
          <a:solidFill>
            <a:srgbClr val="3B0A0A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29600" y="2240280"/>
            <a:ext cx="3474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🚗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8229600" y="2880360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871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-60%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8321040" y="3547872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تكاليف التنقل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321040" y="3931920"/>
            <a:ext cx="3291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الاجتماعات والمراسلات رقمية عن بُعد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4892040"/>
            <a:ext cx="11247120" cy="868680"/>
          </a:xfrm>
          <a:prstGeom prst="roundRect">
            <a:avLst>
              <a:gd name="adj" fmla="val 12632"/>
            </a:avLst>
          </a:prstGeom>
          <a:solidFill>
            <a:srgbClr val="000000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" y="4965192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 أثر إضافي: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40080" y="5321808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توفير ساعات عمل إضافية يُعادل تكلفة عمالة إضافية — المنصة تؤدي دور مساعد إداري رقمي متاح باستمرار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64E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11430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30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أرقام حقيقية من المنصة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365760" y="594360"/>
            <a:ext cx="11430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34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📈  ما تحقق فعلياً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914400" y="1463040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بيانات مباشرة من أنظمة المنصة تعكس مستوى الإنجاز الفعلي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2103120"/>
            <a:ext cx="2651760" cy="1554480"/>
          </a:xfrm>
          <a:prstGeom prst="roundRect">
            <a:avLst>
              <a:gd name="adj" fmla="val 8824"/>
            </a:avLst>
          </a:prstGeom>
          <a:solidFill>
            <a:srgbClr val="0D3B2E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219456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73%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411480" y="2852928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نسبة إنجاز المهام الإدارية</a:t>
            </a:r>
            <a:endParaRPr lang="en-US" sz="1000" dirty="0"/>
          </a:p>
          <a:p>
            <a:pPr rtl="1"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(46 من 63 مهمة)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46120" y="2103120"/>
            <a:ext cx="2651760" cy="1554480"/>
          </a:xfrm>
          <a:prstGeom prst="roundRect">
            <a:avLst>
              <a:gd name="adj" fmla="val 8824"/>
            </a:avLst>
          </a:prstGeom>
          <a:solidFill>
            <a:srgbClr val="0D3B2E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46120" y="219456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83%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3337560" y="2852928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نسبة إنجاز برامج مصادر التعلم</a:t>
            </a:r>
            <a:endParaRPr lang="en-US" sz="1000" dirty="0"/>
          </a:p>
          <a:p>
            <a:pPr rtl="1"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(10 من 12 برنامجاً)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172200" y="2103120"/>
            <a:ext cx="2651760" cy="1554480"/>
          </a:xfrm>
          <a:prstGeom prst="roundRect">
            <a:avLst>
              <a:gd name="adj" fmla="val 8824"/>
            </a:avLst>
          </a:prstGeom>
          <a:solidFill>
            <a:srgbClr val="0D3B2E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172200" y="219456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80%</a:t>
            </a:r>
            <a:endParaRPr lang="en-US" sz="3400" dirty="0"/>
          </a:p>
        </p:txBody>
      </p:sp>
      <p:sp>
        <p:nvSpPr>
          <p:cNvPr id="13" name="Text 11"/>
          <p:cNvSpPr/>
          <p:nvPr/>
        </p:nvSpPr>
        <p:spPr>
          <a:xfrm>
            <a:off x="6263640" y="2852928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نسبة إنجاز برامج التوجيه</a:t>
            </a:r>
            <a:endParaRPr lang="en-US" sz="1000" dirty="0"/>
          </a:p>
          <a:p>
            <a:pPr rtl="1"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(8 من 10 برامج)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9098280" y="2103120"/>
            <a:ext cx="2651760" cy="1554480"/>
          </a:xfrm>
          <a:prstGeom prst="roundRect">
            <a:avLst>
              <a:gd name="adj" fmla="val 8824"/>
            </a:avLst>
          </a:prstGeom>
          <a:solidFill>
            <a:srgbClr val="0D3B2E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098280" y="219456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79%</a:t>
            </a:r>
            <a:endParaRPr lang="en-US" sz="3400" dirty="0"/>
          </a:p>
        </p:txBody>
      </p:sp>
      <p:sp>
        <p:nvSpPr>
          <p:cNvPr id="16" name="Text 14"/>
          <p:cNvSpPr/>
          <p:nvPr/>
        </p:nvSpPr>
        <p:spPr>
          <a:xfrm>
            <a:off x="9189720" y="2852928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نسبة إنجاز الأنشطة الطلابية</a:t>
            </a:r>
            <a:endParaRPr lang="en-US" sz="1000" dirty="0"/>
          </a:p>
          <a:p>
            <a:pPr rtl="1"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(19 من 24 نشاطاً)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20040" y="3886200"/>
            <a:ext cx="2651760" cy="548640"/>
          </a:xfrm>
          <a:prstGeom prst="roundRect">
            <a:avLst>
              <a:gd name="adj" fmla="val 16667"/>
            </a:avLst>
          </a:prstGeom>
          <a:solidFill>
            <a:srgbClr val="064E3B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0040" y="393192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📚  198 كتاب مسجل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246120" y="3886200"/>
            <a:ext cx="2651760" cy="548640"/>
          </a:xfrm>
          <a:prstGeom prst="roundRect">
            <a:avLst>
              <a:gd name="adj" fmla="val 16667"/>
            </a:avLst>
          </a:prstGeom>
          <a:solidFill>
            <a:srgbClr val="064E3B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46120" y="393192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🤝  44 إعارة منفذة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172200" y="3886200"/>
            <a:ext cx="2651760" cy="548640"/>
          </a:xfrm>
          <a:prstGeom prst="roundRect">
            <a:avLst>
              <a:gd name="adj" fmla="val 16667"/>
            </a:avLst>
          </a:prstGeom>
          <a:solidFill>
            <a:srgbClr val="064E3B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172200" y="393192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🏥  55 حالة صحية موثقة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9098280" y="3886200"/>
            <a:ext cx="2651760" cy="548640"/>
          </a:xfrm>
          <a:prstGeom prst="roundRect">
            <a:avLst>
              <a:gd name="adj" fmla="val 16667"/>
            </a:avLst>
          </a:prstGeom>
          <a:solidFill>
            <a:srgbClr val="064E3B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098280" y="393192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🚌  51 مخالفة مرصودة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20040" y="4663440"/>
            <a:ext cx="11521440" cy="777240"/>
          </a:xfrm>
          <a:prstGeom prst="roundRect">
            <a:avLst>
              <a:gd name="adj" fmla="val 11765"/>
            </a:avLst>
          </a:prstGeom>
          <a:solidFill>
            <a:srgbClr val="0A2E1A"/>
          </a:solidFill>
          <a:ln w="12700">
            <a:solidFill>
              <a:srgbClr val="064E3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4773168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3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متوسط نسبة الإنجاز العامة عبر الأنظمة الـ21 تتجاوز  78%  — مؤشر كفاءة مرتفع يعكس التزام الفريق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3A8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11430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الخلاصة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منصة الرياض.. ليست رفاهية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457200" y="150876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3800" b="1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بل ضرورة إدارية</a:t>
            </a:r>
            <a:endParaRPr lang="en-US" sz="3800" dirty="0"/>
          </a:p>
        </p:txBody>
      </p:sp>
      <p:sp>
        <p:nvSpPr>
          <p:cNvPr id="5" name="Shape 3"/>
          <p:cNvSpPr/>
          <p:nvPr/>
        </p:nvSpPr>
        <p:spPr>
          <a:xfrm>
            <a:off x="5029200" y="2423160"/>
            <a:ext cx="2103120" cy="54864"/>
          </a:xfrm>
          <a:prstGeom prst="rect">
            <a:avLst/>
          </a:prstGeom>
          <a:solidFill>
            <a:srgbClr val="60A5FA"/>
          </a:solidFill>
          <a:ln/>
        </p:spPr>
      </p:sp>
      <p:sp>
        <p:nvSpPr>
          <p:cNvPr id="6" name="Shape 4"/>
          <p:cNvSpPr/>
          <p:nvPr/>
        </p:nvSpPr>
        <p:spPr>
          <a:xfrm>
            <a:off x="1371600" y="2697480"/>
            <a:ext cx="9418320" cy="640080"/>
          </a:xfrm>
          <a:prstGeom prst="roundRect">
            <a:avLst>
              <a:gd name="adj" fmla="val 17143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463040" y="2770632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⏱️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2103120" y="2807208"/>
            <a:ext cx="8503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توفير الوقت — الإنجاز بدقائق بدلاً من ساعات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1371600" y="3474720"/>
            <a:ext cx="9418320" cy="640080"/>
          </a:xfrm>
          <a:prstGeom prst="roundRect">
            <a:avLst>
              <a:gd name="adj" fmla="val 17143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463040" y="3547872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💪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103120" y="3584448"/>
            <a:ext cx="8503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توفير الجهد — بيانات مركزية بلا ازدواجية أو تكرار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1371600" y="4251960"/>
            <a:ext cx="9418320" cy="640080"/>
          </a:xfrm>
          <a:prstGeom prst="roundRect">
            <a:avLst>
              <a:gd name="adj" fmla="val 17143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463040" y="4325112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💰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2103120" y="4361688"/>
            <a:ext cx="8503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توفير المال — تقليص الطباعة والأرشفة والتنقل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1371600" y="5029200"/>
            <a:ext cx="9418320" cy="640080"/>
          </a:xfrm>
          <a:prstGeom prst="roundRect">
            <a:avLst>
              <a:gd name="adj" fmla="val 17143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463040" y="5102352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2103120" y="5138928"/>
            <a:ext cx="8503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قرارات أفضل — مؤشرات فورية تدعم صانع القرار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تصميم وتطوير: صالح سفر الغامدي  |  منصة الرياض الإلكترونية 1447هـ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2026-04-25T05:31:47Z</dcterms:created>
  <dcterms:modified xsi:type="dcterms:W3CDTF">2026-04-25T05:31:47Z</dcterms:modified>
</cp:coreProperties>
</file>